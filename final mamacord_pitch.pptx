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57" r:id="rId4"/>
    <p:sldId id="258" r:id="rId5"/>
    <p:sldId id="259" r:id="rId6"/>
    <p:sldId id="264" r:id="rId7"/>
    <p:sldId id="260" r:id="rId8"/>
    <p:sldId id="261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C47A"/>
    <a:srgbClr val="8B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77646"/>
            <a:ext cx="12192000" cy="6858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8197158" y="-277646"/>
            <a:ext cx="3474720" cy="3474720"/>
          </a:xfrm>
          <a:prstGeom prst="ellipse">
            <a:avLst/>
          </a:prstGeom>
          <a:solidFill>
            <a:srgbClr val="F4C47A"/>
          </a:solidFill>
          <a:ln w="12700">
            <a:solidFill>
              <a:srgbClr val="6B121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Shape 2"/>
          <p:cNvSpPr/>
          <p:nvPr/>
        </p:nvSpPr>
        <p:spPr>
          <a:xfrm>
            <a:off x="-604443" y="4764447"/>
            <a:ext cx="2560320" cy="2560320"/>
          </a:xfrm>
          <a:prstGeom prst="ellipse">
            <a:avLst/>
          </a:prstGeom>
          <a:solidFill>
            <a:srgbClr val="6B1212"/>
          </a:solidFill>
          <a:ln w="12700">
            <a:solidFill>
              <a:srgbClr val="6B121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885524" y="831134"/>
            <a:ext cx="8046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MAMALINK TEAM</a:t>
            </a:r>
          </a:p>
        </p:txBody>
      </p:sp>
      <p:sp>
        <p:nvSpPr>
          <p:cNvPr id="7" name="Shape 5"/>
          <p:cNvSpPr/>
          <p:nvPr/>
        </p:nvSpPr>
        <p:spPr>
          <a:xfrm>
            <a:off x="975360" y="2746109"/>
            <a:ext cx="2115436" cy="117209"/>
          </a:xfrm>
          <a:prstGeom prst="rect">
            <a:avLst/>
          </a:prstGeom>
          <a:solidFill>
            <a:srgbClr val="F4C47A"/>
          </a:solidFill>
          <a:ln w="12700">
            <a:solidFill>
              <a:srgbClr val="F4C4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975360" y="2915273"/>
            <a:ext cx="8046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AI-powered maternal triage for frontline health workers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low-resource settings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75360" y="4301632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 Primary Health Centres  ·  TBAs  ·  CHWs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065897" y="5729284"/>
            <a:ext cx="1050311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BY:</a:t>
            </a:r>
            <a:endParaRPr lang="en-US" sz="900" dirty="0">
              <a:solidFill>
                <a:schemeClr val="bg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1491093"/>
            <a:ext cx="6617355" cy="1255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542856-EC1E-7C29-C539-41AC265494EB}"/>
              </a:ext>
            </a:extLst>
          </p:cNvPr>
          <p:cNvSpPr txBox="1"/>
          <p:nvPr/>
        </p:nvSpPr>
        <p:spPr>
          <a:xfrm>
            <a:off x="1955877" y="5680510"/>
            <a:ext cx="1876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G" dirty="0">
                <a:solidFill>
                  <a:schemeClr val="bg1"/>
                </a:solidFill>
              </a:rPr>
              <a:t>Mamalink Team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91FF3B-7207-AB7A-5C59-1D4B2E304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7158" y="451262"/>
            <a:ext cx="3476682" cy="6406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0360"/>
            <a:ext cx="12192001" cy="6858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24174" y="457436"/>
            <a:ext cx="3176749" cy="40095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TEAM &amp; CLOSE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4174" y="1042825"/>
            <a:ext cx="2763125" cy="3628804"/>
          </a:xfrm>
          <a:prstGeom prst="roundRect">
            <a:avLst>
              <a:gd name="adj" fmla="val 3810"/>
            </a:avLst>
          </a:prstGeom>
          <a:solidFill>
            <a:srgbClr val="6B1414"/>
          </a:solidFill>
          <a:ln w="12700">
            <a:solidFill>
              <a:srgbClr val="AA222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762242" y="1223535"/>
            <a:ext cx="1886989" cy="1886989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919480" y="3496310"/>
            <a:ext cx="1642110" cy="273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F4C4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Medical Doctor / AI Researcher </a:t>
            </a:r>
            <a:endParaRPr lang="en-US" sz="1150" i="1" dirty="0">
              <a:solidFill>
                <a:srgbClr val="F4C47A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90833" y="3937209"/>
            <a:ext cx="1968864" cy="5776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Medicine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Obstetric expertise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0777" y="1042825"/>
            <a:ext cx="2763125" cy="3628804"/>
          </a:xfrm>
          <a:prstGeom prst="roundRect">
            <a:avLst>
              <a:gd name="adj" fmla="val 3810"/>
            </a:avLst>
          </a:prstGeom>
          <a:solidFill>
            <a:srgbClr val="6B1414"/>
          </a:solidFill>
          <a:ln w="12700">
            <a:solidFill>
              <a:srgbClr val="AA222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Shape 8"/>
          <p:cNvSpPr/>
          <p:nvPr/>
        </p:nvSpPr>
        <p:spPr>
          <a:xfrm>
            <a:off x="3698845" y="1223535"/>
            <a:ext cx="1886989" cy="1886989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4023123" y="3447059"/>
            <a:ext cx="1264920" cy="19984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F4C4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 Engineer</a:t>
            </a:r>
            <a:endParaRPr lang="en-US" sz="1150" i="1" dirty="0">
              <a:solidFill>
                <a:srgbClr val="F4C47A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46896" y="3985597"/>
            <a:ext cx="1617375" cy="5776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pipeline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 integration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97380" y="1042825"/>
            <a:ext cx="2763125" cy="3628804"/>
          </a:xfrm>
          <a:prstGeom prst="roundRect">
            <a:avLst>
              <a:gd name="adj" fmla="val 3810"/>
            </a:avLst>
          </a:prstGeom>
          <a:solidFill>
            <a:srgbClr val="6B1414"/>
          </a:solidFill>
          <a:ln w="12700">
            <a:solidFill>
              <a:srgbClr val="AA222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6635448" y="1223535"/>
            <a:ext cx="1886989" cy="1886989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6440765" y="3405459"/>
            <a:ext cx="2276353" cy="2454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F4C4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Public Health Professional</a:t>
            </a:r>
            <a:endParaRPr lang="en-US" sz="1150" i="1" dirty="0">
              <a:solidFill>
                <a:srgbClr val="F4C47A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71077" y="3966681"/>
            <a:ext cx="1751359" cy="59195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Nigeria health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33983" y="1042825"/>
            <a:ext cx="2763125" cy="3628804"/>
          </a:xfrm>
          <a:prstGeom prst="roundRect">
            <a:avLst>
              <a:gd name="adj" fmla="val 3810"/>
            </a:avLst>
          </a:prstGeom>
          <a:solidFill>
            <a:srgbClr val="6B1414"/>
          </a:solidFill>
          <a:ln w="12700">
            <a:solidFill>
              <a:srgbClr val="AA222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9572051" y="1223535"/>
            <a:ext cx="1886989" cy="1886989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9788694" y="3302665"/>
            <a:ext cx="1575560" cy="4207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C4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Product &amp; </a:t>
            </a:r>
            <a:r>
              <a:rPr lang="en-US" sz="1150" b="1" dirty="0" err="1">
                <a:solidFill>
                  <a:srgbClr val="F4C4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UXer</a:t>
            </a:r>
            <a:endParaRPr lang="en-US" sz="1150" dirty="0">
              <a:solidFill>
                <a:srgbClr val="F4C47A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438863" y="3969278"/>
            <a:ext cx="2108435" cy="50487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Low-resource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4174" y="3845537"/>
            <a:ext cx="11572934" cy="4571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2103680" y="4955361"/>
            <a:ext cx="8046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 are not just building the future of maternal healthcare.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680" y="5284662"/>
            <a:ext cx="80467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4C4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 are saving the women for it.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2844090" y="5574400"/>
            <a:ext cx="731520" cy="36576"/>
          </a:xfrm>
          <a:prstGeom prst="rect">
            <a:avLst/>
          </a:prstGeom>
          <a:solidFill>
            <a:srgbClr val="F4C47A"/>
          </a:solidFill>
          <a:ln w="12700">
            <a:solidFill>
              <a:srgbClr val="F4C4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Text 17"/>
          <p:cNvSpPr/>
          <p:nvPr/>
        </p:nvSpPr>
        <p:spPr>
          <a:xfrm>
            <a:off x="1524000" y="6390248"/>
            <a:ext cx="9144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MAMACORD AI · MAMALINK 2026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3" name="Text 5"/>
          <p:cNvSpPr/>
          <p:nvPr/>
        </p:nvSpPr>
        <p:spPr>
          <a:xfrm>
            <a:off x="493395" y="3180715"/>
            <a:ext cx="2482215" cy="3333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DR. UTHMAN BABATUNDE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3972645" y="3215147"/>
            <a:ext cx="1491626" cy="2567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OLAMIDE OSO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6602335" y="3184085"/>
            <a:ext cx="2088842" cy="2966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FADEKEMI FADARE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9639479" y="3206429"/>
            <a:ext cx="1915593" cy="26543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EZEKIEL OLADEJO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05840" y="474805"/>
            <a:ext cx="8046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7821" y="948668"/>
            <a:ext cx="6465851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"She felt fine. She never made it to the hospital."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27912" y="2846010"/>
            <a:ext cx="1222103" cy="45719"/>
          </a:xfrm>
          <a:prstGeom prst="rect">
            <a:avLst/>
          </a:prstGeom>
          <a:solidFill>
            <a:srgbClr val="F4C47A"/>
          </a:solidFill>
          <a:ln w="12700">
            <a:solidFill>
              <a:srgbClr val="F4C4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947821" y="1526277"/>
            <a:ext cx="5859417" cy="14253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Amina. 28 years old. 34 weeks pregnant. BP 158/106. Protein in her urine. Her traditional birth attendant had no tool to recognise the danger. Amina went home. She didn't survive the night.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5500" y="3518067"/>
            <a:ext cx="274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1,047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35500" y="4478187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Maternal deaths per 100,000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births in Nigeria (WHO)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718" y="3580412"/>
            <a:ext cx="274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7A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30%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343718" y="4478187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 ALL global maternal deaths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occur in Nigeria alone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74471" y="3648068"/>
            <a:ext cx="335272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Every 7 min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009823" y="4478187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woman dies in childbirth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Nigeria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74618" y="5178305"/>
            <a:ext cx="9874881" cy="10242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8B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Globally, a maternal death occurs every 2 minutes. Over 90% happen in low-income countries. Sub-Saharan Africa carries 70% of the global burden. Nigeria is ground zero.</a:t>
            </a:r>
            <a:endParaRPr lang="en-US" sz="1600" b="1" dirty="0">
              <a:solidFill>
                <a:srgbClr val="8B1A1A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l="3817"/>
          <a:stretch>
            <a:fillRect/>
          </a:stretch>
        </p:blipFill>
        <p:spPr>
          <a:xfrm>
            <a:off x="7314050" y="877084"/>
            <a:ext cx="3913143" cy="2219152"/>
          </a:xfrm>
          <a:prstGeom prst="roundRect">
            <a:avLst/>
          </a:prstGeom>
        </p:spPr>
      </p:pic>
      <p:sp>
        <p:nvSpPr>
          <p:cNvPr id="17" name="Text 17"/>
          <p:cNvSpPr/>
          <p:nvPr/>
        </p:nvSpPr>
        <p:spPr>
          <a:xfrm>
            <a:off x="1524000" y="6446520"/>
            <a:ext cx="9144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MAMACORD AI · MAMALINK 2026 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6584"/>
            <a:ext cx="12192000" cy="6858000"/>
          </a:xfrm>
          <a:prstGeom prst="rect">
            <a:avLst/>
          </a:prstGeom>
          <a:solidFill>
            <a:srgbClr val="8B1A1A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604912" y="442513"/>
            <a:ext cx="8046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GAP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04912" y="791696"/>
            <a:ext cx="8820444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referral chain is broken at every link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91308" y="1424512"/>
            <a:ext cx="1754944" cy="45719"/>
          </a:xfrm>
          <a:prstGeom prst="rect">
            <a:avLst/>
          </a:prstGeom>
          <a:solidFill>
            <a:srgbClr val="F4C47A"/>
          </a:solidFill>
          <a:ln w="12700">
            <a:solidFill>
              <a:srgbClr val="F4C4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704433" y="1825709"/>
            <a:ext cx="3117259" cy="3211363"/>
          </a:xfrm>
          <a:prstGeom prst="roundRect">
            <a:avLst>
              <a:gd name="adj" fmla="val 2667"/>
            </a:avLst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840011" y="2072522"/>
            <a:ext cx="2753579" cy="4571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4C4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objective triage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9439" y="2768302"/>
            <a:ext cx="2753579" cy="124099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TBAs and CHWs rely on intuition. No standardised risk assessment tool exists for their context. A dangerous BP reading goes unrecognised.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2823" y="1825709"/>
            <a:ext cx="3117259" cy="3211363"/>
          </a:xfrm>
          <a:prstGeom prst="roundRect">
            <a:avLst>
              <a:gd name="adj" fmla="val 2667"/>
            </a:avLst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4419863" y="2147861"/>
            <a:ext cx="2753579" cy="4571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4C4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structured handover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19864" y="2754234"/>
            <a:ext cx="2753579" cy="143465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clinical summary travels with the patient on referral. The specialist at the receiving facility starts from zero, losing critical minutes.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4092" y="1825709"/>
            <a:ext cx="3117259" cy="3211363"/>
          </a:xfrm>
          <a:prstGeom prst="roundRect">
            <a:avLst>
              <a:gd name="adj" fmla="val 2667"/>
            </a:avLst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8194952" y="2058454"/>
            <a:ext cx="2753579" cy="4571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4C4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digital record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14105" y="2779336"/>
            <a:ext cx="2753579" cy="13932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EHRs in low-resource PHCs. Data lives on paper only — and disappears at every care transition. Patterns cannot be tracked or learned from.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09467" y="5343029"/>
            <a:ext cx="9143970" cy="3325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Specialist-designed apps exist — but they are built for hospitals, not for a TBA with a smartphone in a rural compound.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7" name="Text 17"/>
          <p:cNvSpPr/>
          <p:nvPr/>
        </p:nvSpPr>
        <p:spPr>
          <a:xfrm>
            <a:off x="1524000" y="6390248"/>
            <a:ext cx="9144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MAMACORD AI · MAMALINK 2026 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01783" y="538479"/>
            <a:ext cx="8046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347505" y="1921619"/>
            <a:ext cx="916722" cy="45719"/>
          </a:xfrm>
          <a:prstGeom prst="rect">
            <a:avLst/>
          </a:prstGeom>
          <a:solidFill>
            <a:srgbClr val="F4C47A"/>
          </a:solidFill>
          <a:ln w="12700">
            <a:solidFill>
              <a:srgbClr val="F4C4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1245326" y="2382012"/>
            <a:ext cx="8046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triage specifically targeting the Big Three killers of pregnancy — pre-eclampsia, haemorrhage, and sepsis — on any smartphone, at the point of care.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07272" y="3409304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1A4A2A"/>
          </a:solidFill>
          <a:ln w="25400">
            <a:solidFill>
              <a:srgbClr val="16A05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2386264" y="3573896"/>
            <a:ext cx="475488" cy="475488"/>
          </a:xfrm>
          <a:prstGeom prst="ellipse">
            <a:avLst/>
          </a:prstGeom>
          <a:solidFill>
            <a:srgbClr val="16A050"/>
          </a:solidFill>
          <a:ln w="12700">
            <a:solidFill>
              <a:srgbClr val="16A05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1307272" y="4168256"/>
            <a:ext cx="2651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GREEN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71864" y="4579736"/>
            <a:ext cx="23317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Routine monitoring.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immediate action required.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82592" y="3409304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4A3D00"/>
          </a:solidFill>
          <a:ln w="25400">
            <a:solidFill>
              <a:srgbClr val="DCA80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5361584" y="3573896"/>
            <a:ext cx="475488" cy="475488"/>
          </a:xfrm>
          <a:prstGeom prst="ellipse">
            <a:avLst/>
          </a:prstGeom>
          <a:solidFill>
            <a:srgbClr val="DCA800"/>
          </a:solidFill>
          <a:ln w="12700">
            <a:solidFill>
              <a:srgbClr val="DCA80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4282592" y="4168256"/>
            <a:ext cx="2651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YELLOW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47184" y="4579736"/>
            <a:ext cx="23317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Elevated risk. Increase monitoring frequency.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Review at next visit.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57912" y="3409304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4A0E0E"/>
          </a:solidFill>
          <a:ln w="25400">
            <a:solidFill>
              <a:srgbClr val="E0404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8336904" y="3573896"/>
            <a:ext cx="475488" cy="475488"/>
          </a:xfrm>
          <a:prstGeom prst="ellipse">
            <a:avLst/>
          </a:prstGeom>
          <a:solidFill>
            <a:srgbClr val="E04040"/>
          </a:solidFill>
          <a:ln w="12700">
            <a:solidFill>
              <a:srgbClr val="E0404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7257912" y="4168256"/>
            <a:ext cx="2651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22504" y="4579736"/>
            <a:ext cx="23317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 risk. Immediate referral.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Handover note auto-generated.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4000" y="6348045"/>
            <a:ext cx="9144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MAMACORD AI · MAMALINK 2026 </a:t>
            </a:r>
            <a:endParaRPr lang="en-US" sz="10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272" y="1095030"/>
            <a:ext cx="4725446" cy="9087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47505" y="538479"/>
            <a:ext cx="916722" cy="45719"/>
          </a:xfrm>
          <a:prstGeom prst="rect">
            <a:avLst/>
          </a:prstGeom>
          <a:solidFill>
            <a:srgbClr val="F4C47A"/>
          </a:solidFill>
          <a:ln w="12700">
            <a:solidFill>
              <a:srgbClr val="F4C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45326" y="6200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5326" y="1100000"/>
            <a:ext cx="85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/>
              </a:defRPr>
            </a:pPr>
            <a:r>
              <a:rPr dirty="0">
                <a:solidFill>
                  <a:srgbClr val="FF0000"/>
                </a:solidFill>
              </a:rPr>
              <a:t>How </a:t>
            </a:r>
            <a:r>
              <a:rPr dirty="0" err="1">
                <a:solidFill>
                  <a:srgbClr val="FF0000"/>
                </a:solidFill>
              </a:rPr>
              <a:t>Mamacord</a:t>
            </a:r>
            <a:r>
              <a:rPr dirty="0">
                <a:solidFill>
                  <a:srgbClr val="FF0000"/>
                </a:solidFill>
              </a:rPr>
              <a:t> AI delivers WHO-grounded clinical reasoning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07272" y="1700000"/>
            <a:ext cx="2550000" cy="2800000"/>
          </a:xfrm>
          <a:prstGeom prst="roundRect">
            <a:avLst>
              <a:gd name="adj" fmla="val 3000"/>
            </a:avLst>
          </a:prstGeom>
          <a:solidFill>
            <a:srgbClr val="1A4A2A"/>
          </a:solidFill>
          <a:ln w="25400">
            <a:solidFill>
              <a:srgbClr val="16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27272" y="1850000"/>
            <a:ext cx="231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A050"/>
                </a:solidFill>
                <a:latin typeface="Georgia"/>
              </a:defRPr>
            </a:pPr>
            <a:r>
              <a:rPr dirty="0"/>
              <a:t>HYBRID RAG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7272" y="2220000"/>
            <a:ext cx="23100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Semantic Search + BM25 Re-ranking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Arial"/>
              </a:defRPr>
            </a:pPr>
            <a:r>
              <a:rPr dirty="0"/>
              <a:t>GPT-4o-mini with strict JSON output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Arial"/>
              </a:defRPr>
            </a:pPr>
            <a:r>
              <a:rPr dirty="0"/>
              <a:t>1,200+ chunks from WHO Maternal Health Guidelines</a:t>
            </a:r>
            <a:endParaRPr lang="en-US" dirty="0"/>
          </a:p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Arial"/>
              </a:defRPr>
            </a:pPr>
            <a:endParaRPr dirty="0"/>
          </a:p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Arial"/>
              </a:defRPr>
            </a:pPr>
            <a:r>
              <a:rPr dirty="0"/>
              <a:t>Citation-linked reasoning — every flag traced to a WHO section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37272" y="1700000"/>
            <a:ext cx="2550000" cy="2800000"/>
          </a:xfrm>
          <a:prstGeom prst="roundRect">
            <a:avLst>
              <a:gd name="adj" fmla="val 3000"/>
            </a:avLst>
          </a:prstGeom>
          <a:solidFill>
            <a:srgbClr val="4A3D00"/>
          </a:solidFill>
          <a:ln w="25400">
            <a:solidFill>
              <a:srgbClr val="DC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57272" y="1850000"/>
            <a:ext cx="231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A800"/>
                </a:solidFill>
                <a:latin typeface="Georgia"/>
              </a:defRPr>
            </a:pPr>
            <a:r>
              <a:t>SAFETY OVERRIDES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7272" y="2220000"/>
            <a:ext cx="231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Hard-coded Python thresholds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Arial"/>
              </a:defRPr>
            </a:pPr>
            <a:r>
              <a:rPr dirty="0"/>
              <a:t>BP ≥ 160/110 → forced RED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Arial"/>
              </a:defRPr>
            </a:pPr>
            <a:r>
              <a:rPr dirty="0"/>
              <a:t>Temp &gt; 38°C → forced RED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Arial"/>
              </a:defRPr>
            </a:pPr>
            <a:r>
              <a:rPr dirty="0"/>
              <a:t>PCV &lt; 21% → forced RED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Arial"/>
              </a:defRPr>
            </a:pPr>
            <a:r>
              <a:rPr dirty="0"/>
              <a:t>Proteinuria ≥ 1+ → forced RED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 algn="ctr">
              <a:spcAft>
                <a:spcPts val="600"/>
              </a:spcAft>
              <a:defRPr sz="1100" b="1">
                <a:solidFill>
                  <a:srgbClr val="DCA800"/>
                </a:solidFill>
                <a:latin typeface="Arial"/>
              </a:defRPr>
            </a:pPr>
            <a:r>
              <a:rPr dirty="0"/>
              <a:t>Cannot be hallucinated away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7272" y="1700000"/>
            <a:ext cx="2550000" cy="2800000"/>
          </a:xfrm>
          <a:prstGeom prst="roundRect">
            <a:avLst>
              <a:gd name="adj" fmla="val 3000"/>
            </a:avLst>
          </a:prstGeom>
          <a:solidFill>
            <a:srgbClr val="4A0E0E"/>
          </a:solidFill>
          <a:ln w="25400">
            <a:solidFill>
              <a:srgbClr val="E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7272" y="1850000"/>
            <a:ext cx="231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04040"/>
                </a:solidFill>
                <a:latin typeface="Georgia"/>
              </a:defRPr>
            </a:pPr>
            <a:r>
              <a:t>TRIAGE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7272" y="2220000"/>
            <a:ext cx="231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GREEN / YELLOW / RED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Arial"/>
              </a:defRPr>
            </a:pPr>
            <a:r>
              <a:t>in under 2 minutes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endParaRPr/>
          </a:p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Arial"/>
              </a:defRPr>
            </a:pPr>
            <a:r>
              <a:t>RED → Auto-generated handover note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Arial"/>
              </a:defRPr>
            </a:pPr>
            <a:r>
              <a:t>Vitals + Risk flags + WHO citations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endParaRPr/>
          </a:p>
          <a:p>
            <a:pPr algn="ctr">
              <a:spcAft>
                <a:spcPts val="600"/>
              </a:spcAft>
              <a:defRPr sz="1100" b="1">
                <a:solidFill>
                  <a:srgbClr val="E04040"/>
                </a:solidFill>
                <a:latin typeface="Arial"/>
              </a:defRPr>
            </a:pPr>
            <a:r>
              <a:t>Sent ahead so the specialist is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96000" y="4750000"/>
            <a:ext cx="1700000" cy="450000"/>
          </a:xfrm>
          <a:prstGeom prst="roundRect">
            <a:avLst>
              <a:gd name="adj" fmla="val 15000"/>
            </a:avLst>
          </a:prstGeom>
          <a:solidFill>
            <a:srgbClr val="1A4A2A"/>
          </a:solidFill>
          <a:ln w="25400">
            <a:solidFill>
              <a:srgbClr val="16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96000" y="4800000"/>
            <a:ext cx="1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Vitals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6000" y="4830000"/>
            <a:ext cx="30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4C47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6000" y="4750000"/>
            <a:ext cx="1700000" cy="450000"/>
          </a:xfrm>
          <a:prstGeom prst="roundRect">
            <a:avLst>
              <a:gd name="adj" fmla="val 15000"/>
            </a:avLst>
          </a:prstGeom>
          <a:solidFill>
            <a:srgbClr val="4A3D00"/>
          </a:solidFill>
          <a:ln w="25400">
            <a:solidFill>
              <a:srgbClr val="DC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96000" y="4800000"/>
            <a:ext cx="1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RAG + BM25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6000" y="4830000"/>
            <a:ext cx="30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4C47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6000" y="4750000"/>
            <a:ext cx="1700000" cy="450000"/>
          </a:xfrm>
          <a:prstGeom prst="roundRect">
            <a:avLst>
              <a:gd name="adj" fmla="val 15000"/>
            </a:avLst>
          </a:prstGeom>
          <a:solidFill>
            <a:srgbClr val="2A1A4A"/>
          </a:solidFill>
          <a:ln w="25400">
            <a:solidFill>
              <a:srgbClr val="806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6000" y="4800000"/>
            <a:ext cx="1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Safety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000" y="4830000"/>
            <a:ext cx="30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4C47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96000" y="4750000"/>
            <a:ext cx="1700000" cy="450000"/>
          </a:xfrm>
          <a:prstGeom prst="roundRect">
            <a:avLst>
              <a:gd name="adj" fmla="val 15000"/>
            </a:avLst>
          </a:prstGeom>
          <a:solidFill>
            <a:srgbClr val="4A0E0E"/>
          </a:solidFill>
          <a:ln w="25400">
            <a:solidFill>
              <a:srgbClr val="E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96000" y="4800000"/>
            <a:ext cx="1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Triage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" y="6348045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Arial"/>
              </a:defRPr>
            </a:pPr>
            <a:r>
              <a:rPr dirty="0"/>
              <a:t>MAMACORD AI · </a:t>
            </a:r>
            <a:r>
              <a:rPr lang="en-US" dirty="0"/>
              <a:t>MAMALINK </a:t>
            </a:r>
            <a:r>
              <a:rPr dirty="0"/>
              <a:t>2026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8257"/>
            <a:ext cx="12192000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1003730" y="425369"/>
            <a:ext cx="8046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 - Demo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03729" y="791129"/>
            <a:ext cx="9940935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From vitals to referral — in under 2 minutes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72542" y="1444925"/>
            <a:ext cx="3854548" cy="45719"/>
          </a:xfrm>
          <a:prstGeom prst="rect">
            <a:avLst/>
          </a:prstGeom>
          <a:solidFill>
            <a:srgbClr val="F4C47A"/>
          </a:solidFill>
          <a:ln w="12700">
            <a:solidFill>
              <a:srgbClr val="F4C4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1143000" y="1914964"/>
            <a:ext cx="1938528" cy="1719072"/>
          </a:xfrm>
          <a:prstGeom prst="roundRect">
            <a:avLst>
              <a:gd name="adj" fmla="val 4255"/>
            </a:avLst>
          </a:prstGeom>
          <a:solidFill>
            <a:srgbClr val="181818"/>
          </a:solidFill>
          <a:ln w="190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1143000" y="2024692"/>
            <a:ext cx="19385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C4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445316"/>
            <a:ext cx="1938528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BP · Temp · HR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Urine protein · Hb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USS findings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99816" y="2509324"/>
            <a:ext cx="23774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19272" y="1914964"/>
            <a:ext cx="1938528" cy="1719072"/>
          </a:xfrm>
          <a:prstGeom prst="roundRect">
            <a:avLst>
              <a:gd name="adj" fmla="val 4255"/>
            </a:avLst>
          </a:prstGeom>
          <a:solidFill>
            <a:srgbClr val="181818"/>
          </a:solidFill>
          <a:ln w="190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3319272" y="2024692"/>
            <a:ext cx="19385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C4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RAG ENGINE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19272" y="2445316"/>
            <a:ext cx="1938528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GPT-4o-mini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 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vector DB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76088" y="2509324"/>
            <a:ext cx="23774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95544" y="1914964"/>
            <a:ext cx="1938528" cy="1719072"/>
          </a:xfrm>
          <a:prstGeom prst="roundRect">
            <a:avLst>
              <a:gd name="adj" fmla="val 4255"/>
            </a:avLst>
          </a:prstGeom>
          <a:solidFill>
            <a:srgbClr val="181818"/>
          </a:solidFill>
          <a:ln w="190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5495544" y="2024692"/>
            <a:ext cx="19385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C4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RISK FLAG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95544" y="2445316"/>
            <a:ext cx="1938528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Green / Yellow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 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 citation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52360" y="2509324"/>
            <a:ext cx="23774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71816" y="1914964"/>
            <a:ext cx="1938528" cy="1719072"/>
          </a:xfrm>
          <a:prstGeom prst="roundRect">
            <a:avLst>
              <a:gd name="adj" fmla="val 4255"/>
            </a:avLst>
          </a:prstGeom>
          <a:solidFill>
            <a:srgbClr val="181818"/>
          </a:solidFill>
          <a:ln w="19050">
            <a:solidFill>
              <a:srgbClr val="C81E1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7671816" y="2024692"/>
            <a:ext cx="19385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C4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IF RED 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71816" y="2445316"/>
            <a:ext cx="1938528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Auto-generate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handover note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 referral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43000" y="3999865"/>
            <a:ext cx="8686165" cy="1508760"/>
          </a:xfrm>
          <a:prstGeom prst="roundRect">
            <a:avLst>
              <a:gd name="adj" fmla="val 3636"/>
            </a:avLst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1325880" y="4147330"/>
            <a:ext cx="8046720" cy="10332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MAMACORD AI REFERRAL SUMMARY</a:t>
            </a:r>
            <a:r>
              <a:rPr lang="en-US" sz="1200" b="1" dirty="0">
                <a:solidFill>
                  <a:srgbClr val="F47A7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HIGH RISK  ●</a:t>
            </a:r>
            <a:r>
              <a:rPr lang="en-US" sz="1200" dirty="0">
                <a:solidFill>
                  <a:srgbClr val="AAAAA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Patient: Amina O.  ·  Age: 28  ·  GA: 34 weeks
BP: </a:t>
            </a:r>
            <a:r>
              <a:rPr lang="en-US" sz="1200" dirty="0">
                <a:solidFill>
                  <a:srgbClr val="F47A7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158/106 mmHg</a:t>
            </a:r>
            <a:r>
              <a:rPr lang="en-US" sz="1200" dirty="0">
                <a:solidFill>
                  <a:srgbClr val="AAAAA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·  Temp: 37.1°C  ·  Urine protein: </a:t>
            </a:r>
            <a:r>
              <a:rPr lang="en-US" sz="1200" dirty="0">
                <a:solidFill>
                  <a:srgbClr val="F47A7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2+</a:t>
            </a:r>
            <a:r>
              <a:rPr lang="en-US" sz="1200" dirty="0">
                <a:solidFill>
                  <a:srgbClr val="AAAAA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·  Hb: 9.2 g/dL  ·  FHR: 148 bpm
</a:t>
            </a:r>
            <a:r>
              <a:rPr lang="en-US" sz="1200" b="1" dirty="0">
                <a:solidFill>
                  <a:srgbClr val="F47A7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⚠  Pre-eclampsia confirmed — immediate specialist review required
</a:t>
            </a:r>
            <a:r>
              <a:rPr lang="en-US" sz="1200" dirty="0">
                <a:solidFill>
                  <a:srgbClr val="8888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Grounded in: Nigerian National Maternal Health Guidelines 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524000" y="6390248"/>
            <a:ext cx="9144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MAMACORD AI · MAMALINK 2026 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14521" y="460717"/>
            <a:ext cx="8046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 MODEL &amp;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0240" y="1073369"/>
            <a:ext cx="4613617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Sustainable by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72783" y="1653659"/>
            <a:ext cx="457200" cy="36576"/>
          </a:xfrm>
          <a:prstGeom prst="rect">
            <a:avLst/>
          </a:prstGeom>
          <a:solidFill>
            <a:srgbClr val="F4C47A"/>
          </a:solidFill>
          <a:ln w="12700">
            <a:solidFill>
              <a:srgbClr val="F4C4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805960" y="1857287"/>
            <a:ext cx="4516901" cy="3364992"/>
          </a:xfrm>
          <a:prstGeom prst="roundRect">
            <a:avLst>
              <a:gd name="adj" fmla="val 2174"/>
            </a:avLst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988841" y="2012735"/>
            <a:ext cx="3611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C4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Revenue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8840" y="2497367"/>
            <a:ext cx="4216205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B2G
</a:t>
            </a:r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License to state ministries of health and NGOs — per-PHC or per-CHW deployed.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8841" y="3338615"/>
            <a:ext cx="4216204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B2B
</a:t>
            </a:r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Subscription for private hospital networks seeking community feeder data.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8841" y="4179863"/>
            <a:ext cx="4216204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Grants
</a:t>
            </a:r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WHO, Gates Foundation, USAID maternal health programmes.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00932" y="1857287"/>
            <a:ext cx="4516901" cy="3364992"/>
          </a:xfrm>
          <a:prstGeom prst="roundRect">
            <a:avLst>
              <a:gd name="adj" fmla="val 2174"/>
            </a:avLst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5883813" y="2012735"/>
            <a:ext cx="3611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C4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Roadmap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83812" y="2497367"/>
            <a:ext cx="4062045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 1 (Now)
</a:t>
            </a:r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Hackathon prototype — RAG triage engine with web UI.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83813" y="3338615"/>
            <a:ext cx="4062046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 2
</a:t>
            </a:r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Pilot with 20 PHC nurses in Oyo State. Obstetrician validation of 100+ triage decisions.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83813" y="4179863"/>
            <a:ext cx="4062046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 3
</a:t>
            </a:r>
            <a:r>
              <a:rPr lang="en-US" sz="12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State-level deployment. Integration with NHMIS reporting system.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72640" y="5496949"/>
            <a:ext cx="8046720" cy="67454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new infrastructure required. Works on existing Android smartphones. Deployable on day one.</a:t>
            </a:r>
            <a:endParaRPr lang="en-US" dirty="0"/>
          </a:p>
        </p:txBody>
      </p:sp>
      <p:sp>
        <p:nvSpPr>
          <p:cNvPr id="18" name="Text 17"/>
          <p:cNvSpPr/>
          <p:nvPr/>
        </p:nvSpPr>
        <p:spPr>
          <a:xfrm>
            <a:off x="1524000" y="6348045"/>
            <a:ext cx="9144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MAMACORD AI · MAMALINK 2026 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721" y="1960409"/>
            <a:ext cx="7652459" cy="26854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778</Words>
  <Application>Microsoft Macintosh PowerPoint</Application>
  <PresentationFormat>Widescreen</PresentationFormat>
  <Paragraphs>137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Mamacord Pitch Deck</dc:title>
  <dc:subject>PptxGenJS Presentation</dc:subject>
  <dc:creator>PptxGenJS</dc:creator>
  <cp:lastModifiedBy>Olamide Oso</cp:lastModifiedBy>
  <cp:revision>19</cp:revision>
  <dcterms:created xsi:type="dcterms:W3CDTF">2026-04-06T17:21:00Z</dcterms:created>
  <dcterms:modified xsi:type="dcterms:W3CDTF">2026-04-09T11:21:59Z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369509BB00EA43E4A193A1705565091D_12</vt:lpwstr>
  </property>
  <property fmtid="{D5CDD505-2E9C-101B-9397-08002B2CF9AE}" pid="3" name="KSOProductBuildVer">
    <vt:lpwstr>1033-12.1.0.25242</vt:lpwstr>
  </property>
</Properties>
</file>